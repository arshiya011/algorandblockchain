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1" r:id="rId12"/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502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DBED2"/>
                </a:solidFill>
                <a:latin typeface="Aptos"/>
              </a:rPr>
              <a:t>LEGAL TECHNOLOGY • AI • BLOCKCHAIN • API MONETIZATION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5F8FC"/>
                </a:solidFill>
                <a:latin typeface="Aptos"/>
              </a:rPr>
              <a:t>Contract Clause Risk Tagger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7830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AAB7CD"/>
                </a:solidFill>
                <a:latin typeface="Aptos"/>
              </a:rPr>
              <a:t>AI-powered legal contract risk analysis using x402 &amp; Algorand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514600"/>
            <a:ext cx="5303520" cy="3246120"/>
          </a:xfrm>
          <a:prstGeom prst="roundRect">
            <a:avLst/>
          </a:prstGeom>
          <a:solidFill>
            <a:srgbClr val="182239"/>
          </a:solidFill>
          <a:ln w="12700">
            <a:solidFill>
              <a:srgbClr val="3A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5A448"/>
                </a:solidFill>
                <a:latin typeface="Aptos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2724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Contracts hide financial, legal and compliance risks.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03320"/>
            <a:ext cx="4663440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t>• Manual review can take days and requires legal experts</a:t>
            </a:r>
          </a:p>
          <a:p>
            <a:pPr>
              <a:spcAft>
                <a:spcPts val="4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t>• Legal counsel is expensive for startups and SMEs</a:t>
            </a:r>
          </a:p>
          <a:p>
            <a:pPr>
              <a:spcAft>
                <a:spcPts val="4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t>• Volume + fatigue can cause risky clauses to be missed</a:t>
            </a:r>
          </a:p>
          <a:p>
            <a:pPr>
              <a:spcAft>
                <a:spcPts val="4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t>• High-risk examples: unlimited liability, auto-renewal, one-sided termination, confidentiality loopholes, unfair payment terms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514600"/>
            <a:ext cx="5394960" cy="3246120"/>
          </a:xfrm>
          <a:prstGeom prst="roundRect">
            <a:avLst/>
          </a:prstGeom>
          <a:solidFill>
            <a:srgbClr val="182239"/>
          </a:solidFill>
          <a:ln w="12700">
            <a:solidFill>
              <a:srgbClr val="3A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7432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3ABE82"/>
                </a:solidFill>
                <a:latin typeface="Aptos"/>
              </a:rPr>
              <a:t>OUR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2724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F8FC"/>
                </a:solidFill>
                <a:latin typeface="Aptos"/>
              </a:rPr>
              <a:t>Automate detection → explanation → safer replacement.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703320"/>
            <a:ext cx="4754880" cy="231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t>• Upload PDF/text contract</a:t>
            </a:r>
          </a:p>
          <a:p>
            <a:pPr>
              <a:spcAft>
                <a:spcPts val="4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t>• Extract and segment clauses with OCR + NLP</a:t>
            </a:r>
          </a:p>
          <a:p>
            <a:pPr>
              <a:spcAft>
                <a:spcPts val="4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t>• Detect risk category and severity</a:t>
            </a:r>
          </a:p>
          <a:p>
            <a:pPr>
              <a:spcAft>
                <a:spcPts val="4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t>• Explain the risk in plain language</a:t>
            </a:r>
          </a:p>
          <a:p>
            <a:pPr>
              <a:spcAft>
                <a:spcPts val="4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t>• Generate a safer alternative clause</a:t>
            </a:r>
          </a:p>
          <a:p>
            <a:pPr>
              <a:spcAft>
                <a:spcPts val="4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t>• Secure access with x402 + immutable audit with Algorand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172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AB7CD"/>
                </a:solidFill>
                <a:latin typeface="Aptos"/>
              </a:rPr>
              <a:t>Goal: faster, cheaper and more traceable contract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End-to-End AI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7CD"/>
                </a:solidFill>
                <a:latin typeface="Aptos"/>
              </a:rPr>
              <a:t>Seven-stage pipeline from contract upload to actionable risk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874519"/>
            <a:ext cx="1508760" cy="1874519"/>
          </a:xfrm>
          <a:prstGeom prst="roundRect">
            <a:avLst/>
          </a:prstGeom>
          <a:solidFill>
            <a:srgbClr val="182239"/>
          </a:solidFill>
          <a:ln w="12700">
            <a:solidFill>
              <a:srgbClr val="3A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84248"/>
            <a:ext cx="1234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6CDF"/>
                </a:solidFill>
                <a:latin typeface="Aptos"/>
              </a:rPr>
              <a:t>1. Upload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13432"/>
            <a:ext cx="1234439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PDF / text contract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20240" y="2807208"/>
            <a:ext cx="137160" cy="0"/>
          </a:xfrm>
          <a:prstGeom prst="line">
            <a:avLst/>
          </a:prstGeom>
          <a:ln w="27940">
            <a:solidFill>
              <a:srgbClr val="2D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084831" y="1874519"/>
            <a:ext cx="1508760" cy="1874519"/>
          </a:xfrm>
          <a:prstGeom prst="roundRect">
            <a:avLst/>
          </a:prstGeom>
          <a:solidFill>
            <a:srgbClr val="182239"/>
          </a:solidFill>
          <a:ln w="12700">
            <a:solidFill>
              <a:srgbClr val="3A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21991" y="1984248"/>
            <a:ext cx="1234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BED2"/>
                </a:solidFill>
                <a:latin typeface="Aptos"/>
              </a:rPr>
              <a:t>2. Extract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21991" y="2313432"/>
            <a:ext cx="1234439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OCR + parsing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593591" y="2807208"/>
            <a:ext cx="137160" cy="0"/>
          </a:xfrm>
          <a:prstGeom prst="line">
            <a:avLst/>
          </a:prstGeom>
          <a:ln w="27940">
            <a:solidFill>
              <a:srgbClr val="2D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58183" y="1874519"/>
            <a:ext cx="1508760" cy="1874519"/>
          </a:xfrm>
          <a:prstGeom prst="roundRect">
            <a:avLst/>
          </a:prstGeom>
          <a:solidFill>
            <a:srgbClr val="182239"/>
          </a:solidFill>
          <a:ln w="12700">
            <a:solidFill>
              <a:srgbClr val="3A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95344" y="1984248"/>
            <a:ext cx="1234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169DC"/>
                </a:solidFill>
                <a:latin typeface="Aptos"/>
              </a:rPr>
              <a:t>3. Segment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95344" y="2313432"/>
            <a:ext cx="1234439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Clause-level NLP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66944" y="2807208"/>
            <a:ext cx="137159" cy="0"/>
          </a:xfrm>
          <a:prstGeom prst="line">
            <a:avLst/>
          </a:prstGeom>
          <a:ln w="27940">
            <a:solidFill>
              <a:srgbClr val="2D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31536" y="1874519"/>
            <a:ext cx="1508760" cy="1874519"/>
          </a:xfrm>
          <a:prstGeom prst="roundRect">
            <a:avLst/>
          </a:prstGeom>
          <a:solidFill>
            <a:srgbClr val="182239"/>
          </a:solidFill>
          <a:ln w="12700">
            <a:solidFill>
              <a:srgbClr val="3A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68696" y="1984248"/>
            <a:ext cx="1234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6CDF"/>
                </a:solidFill>
                <a:latin typeface="Aptos"/>
              </a:rPr>
              <a:t>4. Analyze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68696" y="2313432"/>
            <a:ext cx="1234439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LLM semantic analysis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940296" y="2807208"/>
            <a:ext cx="137159" cy="0"/>
          </a:xfrm>
          <a:prstGeom prst="line">
            <a:avLst/>
          </a:prstGeom>
          <a:ln w="27940">
            <a:solidFill>
              <a:srgbClr val="2D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104888" y="1874519"/>
            <a:ext cx="1508760" cy="1874519"/>
          </a:xfrm>
          <a:prstGeom prst="roundRect">
            <a:avLst/>
          </a:prstGeom>
          <a:solidFill>
            <a:srgbClr val="182239"/>
          </a:solidFill>
          <a:ln w="12700">
            <a:solidFill>
              <a:srgbClr val="3A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42048" y="1984248"/>
            <a:ext cx="1234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525B"/>
                </a:solidFill>
                <a:latin typeface="Aptos"/>
              </a:rPr>
              <a:t>5. Classify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42048" y="2313432"/>
            <a:ext cx="1234439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Risk + severity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13648" y="2807208"/>
            <a:ext cx="137160" cy="0"/>
          </a:xfrm>
          <a:prstGeom prst="line">
            <a:avLst/>
          </a:prstGeom>
          <a:ln w="27940">
            <a:solidFill>
              <a:srgbClr val="2D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778239" y="1874519"/>
            <a:ext cx="1508760" cy="1874519"/>
          </a:xfrm>
          <a:prstGeom prst="roundRect">
            <a:avLst/>
          </a:prstGeom>
          <a:solidFill>
            <a:srgbClr val="182239"/>
          </a:solidFill>
          <a:ln w="12700">
            <a:solidFill>
              <a:srgbClr val="3A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5399" y="1984248"/>
            <a:ext cx="1234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BE82"/>
                </a:solidFill>
                <a:latin typeface="Aptos"/>
              </a:rPr>
              <a:t>6. Recommend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399" y="2313432"/>
            <a:ext cx="1234439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Reason + safer clause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286999" y="2807208"/>
            <a:ext cx="137160" cy="0"/>
          </a:xfrm>
          <a:prstGeom prst="line">
            <a:avLst/>
          </a:prstGeom>
          <a:ln w="27940">
            <a:solidFill>
              <a:srgbClr val="2D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10451591" y="1874519"/>
            <a:ext cx="1508760" cy="1874519"/>
          </a:xfrm>
          <a:prstGeom prst="roundRect">
            <a:avLst/>
          </a:prstGeom>
          <a:solidFill>
            <a:srgbClr val="182239"/>
          </a:solidFill>
          <a:ln w="12700">
            <a:solidFill>
              <a:srgbClr val="3A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88751" y="1984248"/>
            <a:ext cx="12344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A448"/>
                </a:solidFill>
                <a:latin typeface="Aptos"/>
              </a:rPr>
              <a:t>7.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88751" y="2313432"/>
            <a:ext cx="1234439" cy="1344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PDF + verification ID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2519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BED2"/>
                </a:solidFill>
                <a:latin typeface="Aptos"/>
              </a:rPr>
              <a:t>RISK CATEGORIES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617720"/>
            <a:ext cx="1920240" cy="310896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64515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5F8FC"/>
                </a:solidFill>
                <a:latin typeface="Aptos"/>
              </a:rPr>
              <a:t>Legal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788920" y="4617720"/>
            <a:ext cx="1920240" cy="310896"/>
          </a:xfrm>
          <a:prstGeom prst="roundRect">
            <a:avLst/>
          </a:prstGeom>
          <a:solidFill>
            <a:srgbClr val="3A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88920" y="464515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5F8FC"/>
                </a:solidFill>
                <a:latin typeface="Aptos"/>
              </a:rPr>
              <a:t>Financial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0" y="4617720"/>
            <a:ext cx="1920240" cy="310896"/>
          </a:xfrm>
          <a:prstGeom prst="roundRect">
            <a:avLst/>
          </a:prstGeom>
          <a:solidFill>
            <a:srgbClr val="F5A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0" y="464515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5F8FC"/>
                </a:solidFill>
                <a:latin typeface="Aptos"/>
              </a:rPr>
              <a:t>Compliance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69480" y="4617720"/>
            <a:ext cx="1920240" cy="310896"/>
          </a:xfrm>
          <a:prstGeom prst="roundRect">
            <a:avLst/>
          </a:prstGeom>
          <a:solidFill>
            <a:srgbClr val="916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69480" y="464515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5F8FC"/>
                </a:solidFill>
                <a:latin typeface="Aptos"/>
              </a:rPr>
              <a:t>Confidentiality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509760" y="4617720"/>
            <a:ext cx="1920240" cy="310896"/>
          </a:xfrm>
          <a:prstGeom prst="roundRect">
            <a:avLst/>
          </a:prstGeom>
          <a:solidFill>
            <a:srgbClr val="E6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09760" y="4645152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5F8FC"/>
                </a:solidFill>
                <a:latin typeface="Aptos"/>
              </a:rPr>
              <a:t>Liability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166360"/>
            <a:ext cx="11018520" cy="960120"/>
          </a:xfrm>
          <a:prstGeom prst="roundRect">
            <a:avLst/>
          </a:prstGeom>
          <a:solidFill>
            <a:srgbClr val="182239"/>
          </a:solidFill>
          <a:ln w="12700">
            <a:solidFill>
              <a:srgbClr val="3A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53492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BED2"/>
                </a:solidFill>
                <a:latin typeface="Aptos"/>
              </a:rPr>
              <a:t>LIVE EXAMPLE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74519" y="5321808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“Vendor shall not be liable under any circumstances.”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32180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525B"/>
                </a:solidFill>
                <a:latin typeface="Aptos"/>
              </a:rPr>
              <a:t>HIGH • Liability Risk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75320" y="5321808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B7CD"/>
                </a:solidFill>
                <a:latin typeface="Aptos"/>
              </a:rPr>
              <a:t>Reason: one-sided protection → zero vendor accountability.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7CD"/>
                </a:solidFill>
                <a:latin typeface="Aptos"/>
              </a:rPr>
              <a:t>Nine layers connect the user interface, AI pipeline, security and audit trail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" y="1645920"/>
            <a:ext cx="1216152" cy="2011680"/>
          </a:xfrm>
          <a:prstGeom prst="roundRect">
            <a:avLst/>
          </a:prstGeom>
          <a:solidFill>
            <a:srgbClr val="182239"/>
          </a:solidFill>
          <a:ln w="12700">
            <a:solidFill>
              <a:srgbClr val="3A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9768" y="1755648"/>
            <a:ext cx="941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6CDF"/>
                </a:solidFill>
                <a:latin typeface="Aptos"/>
              </a:rP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2084832"/>
            <a:ext cx="941832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React.js</a:t>
            </a:r>
            <a:br/>
            <a:r>
              <a:t>PDF upload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08760" y="2651760"/>
            <a:ext cx="73152" cy="0"/>
          </a:xfrm>
          <a:prstGeom prst="line">
            <a:avLst/>
          </a:prstGeom>
          <a:ln w="27940">
            <a:solidFill>
              <a:srgbClr val="2D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600200" y="1645920"/>
            <a:ext cx="1216152" cy="2011680"/>
          </a:xfrm>
          <a:prstGeom prst="roundRect">
            <a:avLst/>
          </a:prstGeom>
          <a:solidFill>
            <a:srgbClr val="182239"/>
          </a:solidFill>
          <a:ln w="12700">
            <a:solidFill>
              <a:srgbClr val="3A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1755648"/>
            <a:ext cx="941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BED2"/>
                </a:solidFill>
                <a:latin typeface="Aptos"/>
              </a:rPr>
              <a:t>OCR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084832"/>
            <a:ext cx="941832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Tesseract</a:t>
            </a:r>
            <a:br/>
            <a:r>
              <a:t>text extraction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08760" y="2651760"/>
            <a:ext cx="73152" cy="0"/>
          </a:xfrm>
          <a:prstGeom prst="line">
            <a:avLst/>
          </a:prstGeom>
          <a:ln w="27940">
            <a:solidFill>
              <a:srgbClr val="2D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07792" y="1645920"/>
            <a:ext cx="1216152" cy="2011680"/>
          </a:xfrm>
          <a:prstGeom prst="roundRect">
            <a:avLst/>
          </a:prstGeom>
          <a:solidFill>
            <a:srgbClr val="182239"/>
          </a:solidFill>
          <a:ln w="12700">
            <a:solidFill>
              <a:srgbClr val="3A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44952" y="1755648"/>
            <a:ext cx="941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169DC"/>
                </a:solidFill>
                <a:latin typeface="Aptos"/>
              </a:rPr>
              <a:t>NLP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2084832"/>
            <a:ext cx="941832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spaCy</a:t>
            </a:r>
            <a:br/>
            <a:r>
              <a:t>clause segmentation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508760" y="2651760"/>
            <a:ext cx="73152" cy="0"/>
          </a:xfrm>
          <a:prstGeom prst="line">
            <a:avLst/>
          </a:prstGeom>
          <a:ln w="27940">
            <a:solidFill>
              <a:srgbClr val="2D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215384" y="1645920"/>
            <a:ext cx="1216152" cy="2011680"/>
          </a:xfrm>
          <a:prstGeom prst="roundRect">
            <a:avLst/>
          </a:prstGeom>
          <a:solidFill>
            <a:srgbClr val="182239"/>
          </a:solidFill>
          <a:ln w="12700">
            <a:solidFill>
              <a:srgbClr val="3A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2544" y="1755648"/>
            <a:ext cx="941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6CDF"/>
                </a:solidFill>
                <a:latin typeface="Aptos"/>
              </a:rPr>
              <a:t>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2544" y="2084832"/>
            <a:ext cx="941832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GPT / Llama / Claude</a:t>
            </a:r>
            <a:br/>
            <a:r>
              <a:t>semantic analysis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508760" y="2651760"/>
            <a:ext cx="73152" cy="0"/>
          </a:xfrm>
          <a:prstGeom prst="line">
            <a:avLst/>
          </a:prstGeom>
          <a:ln w="27940">
            <a:solidFill>
              <a:srgbClr val="2D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522976" y="1645920"/>
            <a:ext cx="1216152" cy="2011680"/>
          </a:xfrm>
          <a:prstGeom prst="roundRect">
            <a:avLst/>
          </a:prstGeom>
          <a:solidFill>
            <a:srgbClr val="182239"/>
          </a:solidFill>
          <a:ln w="12700">
            <a:solidFill>
              <a:srgbClr val="3A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0136" y="1755648"/>
            <a:ext cx="941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525B"/>
                </a:solidFill>
                <a:latin typeface="Aptos"/>
              </a:rPr>
              <a:t>Classifier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0136" y="2084832"/>
            <a:ext cx="941832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Risk category</a:t>
            </a:r>
            <a:br/>
            <a:r>
              <a:t>+ severity score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508760" y="2651760"/>
            <a:ext cx="73152" cy="0"/>
          </a:xfrm>
          <a:prstGeom prst="line">
            <a:avLst/>
          </a:prstGeom>
          <a:ln w="27940">
            <a:solidFill>
              <a:srgbClr val="2D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830568" y="1645920"/>
            <a:ext cx="1216152" cy="2011680"/>
          </a:xfrm>
          <a:prstGeom prst="roundRect">
            <a:avLst/>
          </a:prstGeom>
          <a:solidFill>
            <a:srgbClr val="182239"/>
          </a:solidFill>
          <a:ln w="12700">
            <a:solidFill>
              <a:srgbClr val="3A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67728" y="1755648"/>
            <a:ext cx="941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BE82"/>
                </a:solidFill>
                <a:latin typeface="Aptos"/>
              </a:rPr>
              <a:t>Output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2084832"/>
            <a:ext cx="941832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Risk score</a:t>
            </a:r>
            <a:br/>
            <a:r>
              <a:t>+ safer clause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508760" y="2651760"/>
            <a:ext cx="73152" cy="0"/>
          </a:xfrm>
          <a:prstGeom prst="line">
            <a:avLst/>
          </a:prstGeom>
          <a:ln w="27940">
            <a:solidFill>
              <a:srgbClr val="2D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138160" y="1645920"/>
            <a:ext cx="1216152" cy="2011680"/>
          </a:xfrm>
          <a:prstGeom prst="roundRect">
            <a:avLst/>
          </a:prstGeom>
          <a:solidFill>
            <a:srgbClr val="182239"/>
          </a:solidFill>
          <a:ln w="12700">
            <a:solidFill>
              <a:srgbClr val="3A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1755648"/>
            <a:ext cx="941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A448"/>
                </a:solidFill>
                <a:latin typeface="Aptos"/>
              </a:rPr>
              <a:t>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2084832"/>
            <a:ext cx="941832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PDF report</a:t>
            </a:r>
            <a:br/>
            <a:r>
              <a:t>clause-level detail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508760" y="2651760"/>
            <a:ext cx="73152" cy="0"/>
          </a:xfrm>
          <a:prstGeom prst="line">
            <a:avLst/>
          </a:prstGeom>
          <a:ln w="27940">
            <a:solidFill>
              <a:srgbClr val="2D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445752" y="1645920"/>
            <a:ext cx="1216152" cy="2011680"/>
          </a:xfrm>
          <a:prstGeom prst="roundRect">
            <a:avLst/>
          </a:prstGeom>
          <a:solidFill>
            <a:srgbClr val="182239"/>
          </a:solidFill>
          <a:ln w="12700">
            <a:solidFill>
              <a:srgbClr val="3A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82912" y="1755648"/>
            <a:ext cx="941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BED2"/>
                </a:solidFill>
                <a:latin typeface="Aptos"/>
              </a:rPr>
              <a:t>x402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82912" y="2084832"/>
            <a:ext cx="941832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Payment verification</a:t>
            </a:r>
            <a:br/>
            <a:r>
              <a:t>gated API access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508760" y="2651760"/>
            <a:ext cx="73152" cy="0"/>
          </a:xfrm>
          <a:prstGeom prst="line">
            <a:avLst/>
          </a:prstGeom>
          <a:ln w="27940">
            <a:solidFill>
              <a:srgbClr val="2D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10753344" y="1645920"/>
            <a:ext cx="1216152" cy="2011680"/>
          </a:xfrm>
          <a:prstGeom prst="roundRect">
            <a:avLst/>
          </a:prstGeom>
          <a:solidFill>
            <a:srgbClr val="182239"/>
          </a:solidFill>
          <a:ln w="12700">
            <a:solidFill>
              <a:srgbClr val="3A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890504" y="1755648"/>
            <a:ext cx="941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BE82"/>
                </a:solidFill>
                <a:latin typeface="Aptos"/>
              </a:rPr>
              <a:t>Algorand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90504" y="2084832"/>
            <a:ext cx="941832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Immutable hash,</a:t>
            </a:r>
            <a:br/>
            <a:r>
              <a:t>timestamp &amp; audit log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069080"/>
            <a:ext cx="5486400" cy="2057400"/>
          </a:xfrm>
          <a:prstGeom prst="roundRect">
            <a:avLst/>
          </a:prstGeom>
          <a:solidFill>
            <a:srgbClr val="182239"/>
          </a:solidFill>
          <a:ln w="12700">
            <a:solidFill>
              <a:srgbClr val="3A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297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BED2"/>
                </a:solidFill>
                <a:latin typeface="Aptos"/>
              </a:rPr>
              <a:t>DATA / AUDIT RECORD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663440"/>
            <a:ext cx="49377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5F8FC"/>
                </a:solidFill>
                <a:latin typeface="Aptos"/>
              </a:defRPr>
            </a:pPr>
            <a:r>
              <a:t>• SHA-256 contract hash</a:t>
            </a:r>
          </a:p>
          <a:p>
            <a:pPr>
              <a:spcAft>
                <a:spcPts val="400"/>
              </a:spcAft>
              <a:defRPr sz="1100">
                <a:solidFill>
                  <a:srgbClr val="F5F8FC"/>
                </a:solidFill>
                <a:latin typeface="Aptos"/>
              </a:defRPr>
            </a:pPr>
            <a:r>
              <a:t>• UTC timestamp + unique analysis ID</a:t>
            </a:r>
          </a:p>
          <a:p>
            <a:pPr>
              <a:spcAft>
                <a:spcPts val="400"/>
              </a:spcAft>
              <a:defRPr sz="1100">
                <a:solidFill>
                  <a:srgbClr val="F5F8FC"/>
                </a:solidFill>
                <a:latin typeface="Aptos"/>
              </a:defRPr>
            </a:pPr>
            <a:r>
              <a:t>• Aggregate risk score</a:t>
            </a:r>
          </a:p>
          <a:p>
            <a:pPr>
              <a:spcAft>
                <a:spcPts val="400"/>
              </a:spcAft>
              <a:defRPr sz="1100">
                <a:solidFill>
                  <a:srgbClr val="F5F8FC"/>
                </a:solidFill>
                <a:latin typeface="Aptos"/>
              </a:defRPr>
            </a:pPr>
            <a:r>
              <a:t>• User Algorand wallet address</a:t>
            </a:r>
          </a:p>
          <a:p>
            <a:pPr>
              <a:spcAft>
                <a:spcPts val="400"/>
              </a:spcAft>
              <a:defRPr sz="1100">
                <a:solidFill>
                  <a:srgbClr val="F5F8FC"/>
                </a:solidFill>
                <a:latin typeface="Aptos"/>
              </a:defRPr>
            </a:pPr>
            <a:r>
              <a:t>• Tamper-proof verification of analysis event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4069080"/>
            <a:ext cx="5440680" cy="2057400"/>
          </a:xfrm>
          <a:prstGeom prst="roundRect">
            <a:avLst/>
          </a:prstGeom>
          <a:solidFill>
            <a:srgbClr val="182239"/>
          </a:solidFill>
          <a:ln w="12700">
            <a:solidFill>
              <a:srgbClr val="3A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4297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BED2"/>
                </a:solidFill>
                <a:latin typeface="Aptos"/>
              </a:rPr>
              <a:t>TECHNOLOGY STACK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4663440"/>
            <a:ext cx="493776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5F8FC"/>
                </a:solidFill>
                <a:latin typeface="Aptos"/>
              </a:defRPr>
            </a:pPr>
            <a:r>
              <a:t>• Frontend: React.js | Backend: FastAPI / Node.js</a:t>
            </a:r>
          </a:p>
          <a:p>
            <a:pPr>
              <a:spcAft>
                <a:spcPts val="400"/>
              </a:spcAft>
              <a:defRPr sz="1100">
                <a:solidFill>
                  <a:srgbClr val="F5F8FC"/>
                </a:solidFill>
                <a:latin typeface="Aptos"/>
              </a:defRPr>
            </a:pPr>
            <a:r>
              <a:t>• AI: Python, Transformers | NLP: spaCy</a:t>
            </a:r>
          </a:p>
          <a:p>
            <a:pPr>
              <a:spcAft>
                <a:spcPts val="400"/>
              </a:spcAft>
              <a:defRPr sz="1100">
                <a:solidFill>
                  <a:srgbClr val="F5F8FC"/>
                </a:solidFill>
                <a:latin typeface="Aptos"/>
              </a:defRPr>
            </a:pPr>
            <a:r>
              <a:t>• LLM: OpenAI / Llama | OCR: Tesseract</a:t>
            </a:r>
          </a:p>
          <a:p>
            <a:pPr>
              <a:spcAft>
                <a:spcPts val="400"/>
              </a:spcAft>
              <a:defRPr sz="1100">
                <a:solidFill>
                  <a:srgbClr val="F5F8FC"/>
                </a:solidFill>
                <a:latin typeface="Aptos"/>
              </a:defRPr>
            </a:pPr>
            <a:r>
              <a:t>• Database: PostgreSQL | Blockchain: Algorand</a:t>
            </a:r>
          </a:p>
          <a:p>
            <a:pPr>
              <a:spcAft>
                <a:spcPts val="400"/>
              </a:spcAft>
              <a:defRPr sz="1100">
                <a:solidFill>
                  <a:srgbClr val="F5F8FC"/>
                </a:solidFill>
                <a:latin typeface="Aptos"/>
              </a:defRPr>
            </a:pPr>
            <a:r>
              <a:t>• API security: x402 | Deployment: Docker + AWS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x402 + Algorand: Trust, Monetization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7CD"/>
                </a:solidFill>
                <a:latin typeface="Aptos"/>
              </a:rPr>
              <a:t>The analysis API is pay-per-use and every completed analysis leaves a verifiable blockchain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DBED2"/>
                </a:solidFill>
                <a:latin typeface="Aptos"/>
              </a:rPr>
              <a:t>x402 PAYMENT-PROTECTED 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2057400" cy="1143000"/>
          </a:xfrm>
          <a:prstGeom prst="roundRect">
            <a:avLst/>
          </a:prstGeom>
          <a:solidFill>
            <a:srgbClr val="182239"/>
          </a:solidFill>
          <a:ln w="12700">
            <a:solidFill>
              <a:srgbClr val="3A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4708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6CDF"/>
                </a:solidFill>
                <a:latin typeface="Aptos"/>
              </a:rPr>
              <a:t>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76272"/>
            <a:ext cx="17830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Request /analyze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2304288"/>
            <a:ext cx="137160" cy="0"/>
          </a:xfrm>
          <a:prstGeom prst="line">
            <a:avLst/>
          </a:prstGeom>
          <a:ln w="27940">
            <a:solidFill>
              <a:srgbClr val="2D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24912" y="1737360"/>
            <a:ext cx="2057400" cy="1143000"/>
          </a:xfrm>
          <a:prstGeom prst="roundRect">
            <a:avLst/>
          </a:prstGeom>
          <a:solidFill>
            <a:srgbClr val="182239"/>
          </a:solidFill>
          <a:ln w="12700">
            <a:solidFill>
              <a:srgbClr val="3A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62072" y="184708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A448"/>
                </a:solidFill>
                <a:latin typeface="Aptos"/>
              </a:rPr>
              <a:t>Pay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2072" y="2176272"/>
            <a:ext cx="17830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x402 payment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60320" y="2304288"/>
            <a:ext cx="137160" cy="0"/>
          </a:xfrm>
          <a:prstGeom prst="line">
            <a:avLst/>
          </a:prstGeom>
          <a:ln w="27940">
            <a:solidFill>
              <a:srgbClr val="2D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946904" y="1737360"/>
            <a:ext cx="2057400" cy="1143000"/>
          </a:xfrm>
          <a:prstGeom prst="roundRect">
            <a:avLst/>
          </a:prstGeom>
          <a:solidFill>
            <a:srgbClr val="182239"/>
          </a:solidFill>
          <a:ln w="12700">
            <a:solidFill>
              <a:srgbClr val="3A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84064" y="184708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BED2"/>
                </a:solidFill>
                <a:latin typeface="Aptos"/>
              </a:rPr>
              <a:t>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4064" y="2176272"/>
            <a:ext cx="17830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Payment valid?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60320" y="2304288"/>
            <a:ext cx="137160" cy="0"/>
          </a:xfrm>
          <a:prstGeom prst="line">
            <a:avLst/>
          </a:prstGeom>
          <a:ln w="27940">
            <a:solidFill>
              <a:srgbClr val="2D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168896" y="1737360"/>
            <a:ext cx="2057400" cy="1143000"/>
          </a:xfrm>
          <a:prstGeom prst="roundRect">
            <a:avLst/>
          </a:prstGeom>
          <a:solidFill>
            <a:srgbClr val="182239"/>
          </a:solidFill>
          <a:ln w="12700">
            <a:solidFill>
              <a:srgbClr val="3A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06056" y="184708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BE82"/>
                </a:solidFill>
                <a:latin typeface="Aptos"/>
              </a:rPr>
              <a:t>Grant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06056" y="2176272"/>
            <a:ext cx="17830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API access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560320" y="2304288"/>
            <a:ext cx="137160" cy="0"/>
          </a:xfrm>
          <a:prstGeom prst="line">
            <a:avLst/>
          </a:prstGeom>
          <a:ln w="27940">
            <a:solidFill>
              <a:srgbClr val="2DBE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390888" y="1737360"/>
            <a:ext cx="2057400" cy="1143000"/>
          </a:xfrm>
          <a:prstGeom prst="roundRect">
            <a:avLst/>
          </a:prstGeom>
          <a:solidFill>
            <a:srgbClr val="182239"/>
          </a:solidFill>
          <a:ln w="12700">
            <a:solidFill>
              <a:srgbClr val="3A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28048" y="1847088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169DC"/>
                </a:solidFill>
                <a:latin typeface="Aptos"/>
              </a:rPr>
              <a:t>Analyze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8048" y="2176272"/>
            <a:ext cx="1783080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AI pipeline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3246120"/>
            <a:ext cx="5257800" cy="2331720"/>
          </a:xfrm>
          <a:prstGeom prst="roundRect">
            <a:avLst/>
          </a:prstGeom>
          <a:solidFill>
            <a:srgbClr val="182239"/>
          </a:solidFill>
          <a:ln w="12700">
            <a:solidFill>
              <a:srgbClr val="3A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49300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BED2"/>
                </a:solidFill>
                <a:latin typeface="Aptos"/>
              </a:rPr>
              <a:t>PROTECTED ENDPOINTS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913632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5F8FC"/>
                </a:solidFill>
                <a:latin typeface="Aptos"/>
              </a:rPr>
              <a:t>POST /analyze      Full contract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4279392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POST /risk-score   Clause risk score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645152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POST /suggest-clause  Safer alternative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5010912"/>
            <a:ext cx="4617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5F8FC"/>
                </a:solidFill>
                <a:latin typeface="Aptos"/>
              </a:rPr>
              <a:t>GET  /report       Retrieve report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80760" y="3246120"/>
            <a:ext cx="2560320" cy="2331720"/>
          </a:xfrm>
          <a:prstGeom prst="roundRect">
            <a:avLst/>
          </a:prstGeom>
          <a:solidFill>
            <a:srgbClr val="182239"/>
          </a:solidFill>
          <a:ln w="12700">
            <a:solidFill>
              <a:srgbClr val="3A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4930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DBED2"/>
                </a:solidFill>
                <a:latin typeface="Aptos"/>
              </a:rPr>
              <a:t>x402 BENEFITS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886200"/>
            <a:ext cx="2103120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5F8FC"/>
                </a:solidFill>
                <a:latin typeface="Aptos"/>
              </a:defRPr>
            </a:pPr>
            <a:r>
              <a:t>• Pay-per-use</a:t>
            </a:r>
          </a:p>
          <a:p>
            <a:pPr>
              <a:spcAft>
                <a:spcPts val="400"/>
              </a:spcAft>
              <a:defRPr sz="1000">
                <a:solidFill>
                  <a:srgbClr val="F5F8FC"/>
                </a:solidFill>
                <a:latin typeface="Aptos"/>
              </a:defRPr>
            </a:pPr>
            <a:r>
              <a:t>• Secure monetization</a:t>
            </a:r>
          </a:p>
          <a:p>
            <a:pPr>
              <a:spcAft>
                <a:spcPts val="400"/>
              </a:spcAft>
              <a:defRPr sz="1000">
                <a:solidFill>
                  <a:srgbClr val="F5F8FC"/>
                </a:solidFill>
                <a:latin typeface="Aptos"/>
              </a:defRPr>
            </a:pPr>
            <a:r>
              <a:t>• Access control</a:t>
            </a:r>
          </a:p>
          <a:p>
            <a:pPr>
              <a:spcAft>
                <a:spcPts val="400"/>
              </a:spcAft>
              <a:defRPr sz="1000">
                <a:solidFill>
                  <a:srgbClr val="F5F8FC"/>
                </a:solidFill>
                <a:latin typeface="Aptos"/>
              </a:defRPr>
            </a:pPr>
            <a:r>
              <a:t>• Abuse prevention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869680" y="3246120"/>
            <a:ext cx="2697480" cy="2331720"/>
          </a:xfrm>
          <a:prstGeom prst="roundRect">
            <a:avLst/>
          </a:prstGeom>
          <a:solidFill>
            <a:srgbClr val="182239"/>
          </a:solidFill>
          <a:ln w="12700">
            <a:solidFill>
              <a:srgbClr val="3A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98280" y="34930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ABE82"/>
                </a:solidFill>
                <a:latin typeface="Aptos"/>
              </a:rPr>
              <a:t>ALGORAND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3886200"/>
            <a:ext cx="2194560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F5F8FC"/>
                </a:solidFill>
                <a:latin typeface="Aptos"/>
              </a:defRPr>
            </a:pPr>
            <a:r>
              <a:t>• Immutable</a:t>
            </a:r>
          </a:p>
          <a:p>
            <a:pPr>
              <a:spcAft>
                <a:spcPts val="400"/>
              </a:spcAft>
              <a:defRPr sz="1000">
                <a:solidFill>
                  <a:srgbClr val="F5F8FC"/>
                </a:solidFill>
                <a:latin typeface="Aptos"/>
              </a:defRPr>
            </a:pPr>
            <a:r>
              <a:t>• Transparent</a:t>
            </a:r>
          </a:p>
          <a:p>
            <a:pPr>
              <a:spcAft>
                <a:spcPts val="400"/>
              </a:spcAft>
              <a:defRPr sz="1000">
                <a:solidFill>
                  <a:srgbClr val="F5F8FC"/>
                </a:solidFill>
                <a:latin typeface="Aptos"/>
              </a:defRPr>
            </a:pPr>
            <a:r>
              <a:t>• Fast finality</a:t>
            </a:r>
          </a:p>
          <a:p>
            <a:pPr>
              <a:spcAft>
                <a:spcPts val="400"/>
              </a:spcAft>
              <a:defRPr sz="1000">
                <a:solidFill>
                  <a:srgbClr val="F5F8FC"/>
                </a:solidFill>
                <a:latin typeface="Aptos"/>
              </a:defRPr>
            </a:pPr>
            <a:r>
              <a:t>• Low cost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51663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AAB7CD"/>
                </a:solidFill>
                <a:latin typeface="Aptos"/>
              </a:rPr>
              <a:t>Stores: hash • time • ID • score • wallet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5897880"/>
            <a:ext cx="1828800" cy="310896"/>
          </a:xfrm>
          <a:prstGeom prst="roundRect">
            <a:avLst/>
          </a:prstGeom>
          <a:solidFill>
            <a:srgbClr val="3A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59253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5F8FC"/>
                </a:solidFill>
                <a:latin typeface="Aptos"/>
              </a:rPr>
              <a:t>Example: $0.01 USDC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606040" y="5916168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F8FC"/>
                </a:solidFill>
                <a:latin typeface="Aptos"/>
              </a:rPr>
              <a:t>One clearly priced capability: contract analysis + PDF report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Expected Output &amp; Product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229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B7CD"/>
                </a:solidFill>
                <a:latin typeface="Aptos"/>
              </a:rPr>
              <a:t>A practical legal-AI service that delivers an actionable report with cryptographic proof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6492240" cy="4526280"/>
          </a:xfrm>
          <a:prstGeom prst="roundRect">
            <a:avLst/>
          </a:prstGeom>
          <a:solidFill>
            <a:srgbClr val="182239"/>
          </a:solidFill>
          <a:ln w="12700">
            <a:solidFill>
              <a:srgbClr val="3A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AI CONTRACT RISK REPORT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1536192"/>
            <a:ext cx="1234440" cy="310896"/>
          </a:xfrm>
          <a:prstGeom prst="roundRect">
            <a:avLst/>
          </a:prstGeom>
          <a:solidFill>
            <a:srgbClr val="E652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40680" y="1563624"/>
            <a:ext cx="1234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5F8FC"/>
                </a:solidFill>
                <a:latin typeface="Aptos"/>
              </a:rPr>
              <a:t>HIGH RISK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BED2"/>
                </a:solidFill>
                <a:latin typeface="Aptos"/>
              </a:rPr>
              <a:t>Flagged clause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31720"/>
            <a:ext cx="5806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F8FC"/>
                </a:solidFill>
                <a:latin typeface="Aptos"/>
              </a:rPr>
              <a:t>Vendor shall not be liable under any circumstances.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9260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AB7CD"/>
                </a:solidFill>
                <a:latin typeface="Aptos"/>
              </a:rPr>
              <a:t>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9260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525B"/>
                </a:solidFill>
                <a:latin typeface="Aptos"/>
              </a:rPr>
              <a:t>HIGH • Liability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6499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AB7CD"/>
                </a:solidFill>
                <a:latin typeface="Aptos"/>
              </a:rPr>
              <a:t>Why risky?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675887"/>
            <a:ext cx="5715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F8FC"/>
                </a:solidFill>
                <a:latin typeface="Aptos"/>
              </a:rPr>
              <a:t>One-sided liability protection gives the vendor zero accountability for damages.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7083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AB7CD"/>
                </a:solidFill>
                <a:latin typeface="Aptos"/>
              </a:rPr>
              <a:t>Safer alternative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681728"/>
            <a:ext cx="5806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BE82"/>
                </a:solidFill>
                <a:latin typeface="Aptos"/>
              </a:rPr>
              <a:t>Vendor liability shall be limited to direct damages up to the contract value.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468112"/>
            <a:ext cx="5669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AB7CD"/>
                </a:solidFill>
                <a:latin typeface="Aptos"/>
              </a:rPr>
              <a:t>Verification ID: blockchain-backed analysis certificate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1325880"/>
            <a:ext cx="4206240" cy="4526280"/>
          </a:xfrm>
          <a:prstGeom prst="roundRect">
            <a:avLst/>
          </a:prstGeom>
          <a:solidFill>
            <a:srgbClr val="182239"/>
          </a:solidFill>
          <a:ln w="12700">
            <a:solidFill>
              <a:srgbClr val="3A48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16002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BED2"/>
                </a:solidFill>
                <a:latin typeface="Aptos"/>
              </a:rPr>
              <a:t>WHY IT MATTERS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2084831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BE82"/>
                </a:solidFill>
                <a:latin typeface="Aptos"/>
              </a:rPr>
              <a:t>Faster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2084831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5F8FC"/>
                </a:solidFill>
                <a:latin typeface="Aptos"/>
              </a:rPr>
              <a:t>Automates repetitive first-pass review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265176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BE82"/>
                </a:solidFill>
                <a:latin typeface="Aptos"/>
              </a:rPr>
              <a:t>Lower Cost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65176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5F8FC"/>
                </a:solidFill>
                <a:latin typeface="Aptos"/>
              </a:rPr>
              <a:t>Pay only for analyses performed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3218687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BE82"/>
                </a:solidFill>
                <a:latin typeface="Aptos"/>
              </a:rPr>
              <a:t>Actionable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60" y="3218687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5F8FC"/>
                </a:solidFill>
                <a:latin typeface="Aptos"/>
              </a:rPr>
              <a:t>Explains risk and proposes replacement 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3785615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BE82"/>
                </a:solidFill>
                <a:latin typeface="Aptos"/>
              </a:rPr>
              <a:t>Secure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785615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5F8FC"/>
                </a:solidFill>
                <a:latin typeface="Aptos"/>
              </a:rPr>
              <a:t>x402 protects analysis endpoints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35240" y="4352544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BE82"/>
                </a:solidFill>
                <a:latin typeface="Aptos"/>
              </a:rPr>
              <a:t>Auditable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960" y="4352544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5F8FC"/>
                </a:solidFill>
                <a:latin typeface="Aptos"/>
              </a:rPr>
              <a:t>Algorand stores immutable analysis metadata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491947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ABE82"/>
                </a:solidFill>
                <a:latin typeface="Aptos"/>
              </a:rPr>
              <a:t>Scalable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23960" y="4919472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5F8FC"/>
                </a:solidFill>
                <a:latin typeface="Aptos"/>
              </a:rPr>
              <a:t>API-first architecture supports many contracts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172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Product promise: Identify risky clauses → explain them → suggest safer language → prove the analysis happened.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82296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Contract Clause Risk Tagger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965960"/>
            <a:ext cx="94183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50C8DC"/>
                </a:solidFill>
              </a:defRPr>
            </a:pPr>
            <a:r>
              <a:t>Project Name: ABC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97480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0">
                <a:solidFill>
                  <a:srgbClr val="DCE1EB"/>
                </a:solidFill>
              </a:defRPr>
            </a:pPr>
            <a:r>
              <a:t>AI-powered legal contract risk analysis using x402 &amp; Algorand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TEAM MEMBERS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51960"/>
            <a:ext cx="9601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900"/>
              </a:spcAft>
              <a:defRPr sz="1700">
                <a:solidFill>
                  <a:srgbClr val="EBF0F8"/>
                </a:solidFill>
              </a:defRPr>
            </a:pPr>
            <a:r>
              <a:t>K. NITHYA SRI – 24200800065</a:t>
            </a:r>
          </a:p>
          <a:p>
            <a:pPr algn="ctr">
              <a:spcAft>
                <a:spcPts val="900"/>
              </a:spcAft>
              <a:defRPr sz="1700">
                <a:solidFill>
                  <a:srgbClr val="EBF0F8"/>
                </a:solidFill>
              </a:defRPr>
            </a:pPr>
            <a:r>
              <a:t>P. SAI AKSHITHA – 2420080024</a:t>
            </a:r>
          </a:p>
          <a:p>
            <a:pPr algn="ctr">
              <a:spcAft>
                <a:spcPts val="900"/>
              </a:spcAft>
              <a:defRPr sz="1700">
                <a:solidFill>
                  <a:srgbClr val="EBF0F8"/>
                </a:solidFill>
              </a:defRPr>
            </a:pPr>
            <a:r>
              <a:t>ARSHIYA – 2420080084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